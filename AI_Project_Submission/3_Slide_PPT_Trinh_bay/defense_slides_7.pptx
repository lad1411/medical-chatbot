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41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2895" cy="1718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rial"/>
              </a:defRPr>
            </a:pPr>
            <a:r>
              <a:rPr dirty="0"/>
              <a:t>Efficient Medical Question Answering via </a:t>
            </a:r>
            <a:r>
              <a:rPr dirty="0" err="1"/>
              <a:t>QLoRA</a:t>
            </a:r>
            <a:r>
              <a:rPr dirty="0"/>
              <a:t> &amp; Hybrid RAG</a:t>
            </a:r>
          </a:p>
          <a:p>
            <a:pPr>
              <a:spcBef>
                <a:spcPts val="1400"/>
              </a:spcBef>
              <a:defRPr sz="1800">
                <a:solidFill>
                  <a:srgbClr val="C8DCFF"/>
                </a:solidFill>
                <a:latin typeface="Arial"/>
              </a:defRPr>
            </a:pPr>
            <a:r>
              <a:rPr dirty="0"/>
              <a:t>Bridging the Gap Between 7B and 70B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rial"/>
              </a:defRPr>
            </a:pPr>
            <a:r>
              <a:t>Authors: Le Anh Duc, Bui Minh Hai, Nguyen Quoc Cuong, Trinh Hoang Dai Hai, Vu Nguyen Trung Kien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Supervisor: Assoc. Prof. Pham Van Hai</a:t>
            </a:r>
          </a:p>
          <a:p>
            <a:pPr>
              <a:defRPr sz="1200">
                <a:solidFill>
                  <a:srgbClr val="B4C8F0"/>
                </a:solidFill>
                <a:latin typeface="Arial"/>
              </a:defRPr>
            </a:pPr>
            <a:r>
              <a:t>School of Information and Communication Technology, Hanoi University of Science and Technology (HUST)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29417A"/>
                </a:solidFill>
                <a:latin typeface="Arial"/>
              </a:defRPr>
            </a:pPr>
            <a:r>
              <a:t>Introduction &amp; Motivation</a:t>
            </a:r>
          </a:p>
          <a:p>
            <a:pPr>
              <a:defRPr sz="1400">
                <a:solidFill>
                  <a:srgbClr val="475569"/>
                </a:solidFill>
                <a:latin typeface="Arial"/>
              </a:defRPr>
            </a:pPr>
            <a:r>
              <a:t>The trade-off between model scale, deployment cost, and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latin typeface="Arial"/>
              </a:defRPr>
            </a:pPr>
            <a:r>
              <a:rPr b="1">
                <a:solidFill>
                  <a:srgbClr val="29417A"/>
                </a:solidFill>
              </a:rPr>
              <a:t>The Scale Bottleneck</a:t>
            </a:r>
            <a:r>
              <a:rPr b="0">
                <a:solidFill>
                  <a:srgbClr val="0F172A"/>
                </a:solidFill>
              </a:rPr>
              <a:t>: State-of-the-art medical reasoning requires massive models (70B+ parameters) which are extremely expensive to deploy locally.</a:t>
            </a:r>
          </a:p>
          <a:p>
            <a:pPr>
              <a:spcAft>
                <a:spcPts val="1400"/>
              </a:spcAft>
              <a:defRPr sz="1500">
                <a:latin typeface="Arial"/>
              </a:defRPr>
            </a:pPr>
            <a:r>
              <a:rPr b="1">
                <a:solidFill>
                  <a:srgbClr val="29417A"/>
                </a:solidFill>
              </a:rPr>
              <a:t>Cloud Limitations</a:t>
            </a:r>
            <a:r>
              <a:rPr b="0">
                <a:solidFill>
                  <a:srgbClr val="0F172A"/>
                </a:solidFill>
              </a:rPr>
              <a:t>: Querying cloud APIs (GPT-4) exposes sensitive patient data to third parties, violating medical privacy regulations.</a:t>
            </a:r>
          </a:p>
          <a:p>
            <a:pPr>
              <a:spcAft>
                <a:spcPts val="1400"/>
              </a:spcAft>
              <a:defRPr sz="1500">
                <a:latin typeface="Arial"/>
              </a:defRPr>
            </a:pPr>
            <a:r>
              <a:rPr b="1">
                <a:solidFill>
                  <a:srgbClr val="29417A"/>
                </a:solidFill>
              </a:rPr>
              <a:t>Operational Cost</a:t>
            </a:r>
            <a:r>
              <a:rPr b="0">
                <a:solidFill>
                  <a:srgbClr val="0F172A"/>
                </a:solidFill>
              </a:rPr>
              <a:t>: Small clinics cannot afford the compute power needed for running large parameters in-house.</a:t>
            </a:r>
          </a:p>
          <a:p>
            <a:pPr>
              <a:spcAft>
                <a:spcPts val="1400"/>
              </a:spcAft>
              <a:defRPr sz="1500">
                <a:latin typeface="Arial"/>
              </a:defRPr>
            </a:pPr>
            <a:r>
              <a:rPr b="1">
                <a:solidFill>
                  <a:srgbClr val="29417A"/>
                </a:solidFill>
              </a:rPr>
              <a:t>Research Question</a:t>
            </a:r>
            <a:r>
              <a:rPr b="0">
                <a:solidFill>
                  <a:srgbClr val="0F172A"/>
                </a:solidFill>
              </a:rPr>
              <a:t>: Can we combine </a:t>
            </a:r>
            <a:r>
              <a:rPr b="1">
                <a:solidFill>
                  <a:srgbClr val="29417A"/>
                </a:solidFill>
              </a:rPr>
              <a:t>parameter-efficient tuning (PEFT)</a:t>
            </a:r>
            <a:r>
              <a:rPr b="0">
                <a:solidFill>
                  <a:srgbClr val="0F172A"/>
                </a:solidFill>
              </a:rPr>
              <a:t> and </a:t>
            </a:r>
            <a:r>
              <a:rPr b="1">
                <a:solidFill>
                  <a:srgbClr val="29417A"/>
                </a:solidFill>
              </a:rPr>
              <a:t>advanced hybrid retrieval (RAG)</a:t>
            </a:r>
            <a:r>
              <a:rPr b="0">
                <a:solidFill>
                  <a:srgbClr val="0F172A"/>
                </a:solidFill>
              </a:rPr>
              <a:t> on a </a:t>
            </a:r>
            <a:r>
              <a:rPr b="1">
                <a:solidFill>
                  <a:srgbClr val="29417A"/>
                </a:solidFill>
              </a:rPr>
              <a:t>7B model</a:t>
            </a:r>
            <a:r>
              <a:rPr b="0">
                <a:solidFill>
                  <a:srgbClr val="0F172A"/>
                </a:solidFill>
              </a:rPr>
              <a:t> to bridge this capability gap?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828800"/>
            <a:ext cx="48463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800"/>
              </a:spcAft>
              <a:defRPr sz="1400" b="1">
                <a:solidFill>
                  <a:srgbClr val="29417A"/>
                </a:solidFill>
                <a:latin typeface="Arial"/>
              </a:defRPr>
            </a:pPr>
            <a:r>
              <a:t>PROPOSED FOCUS</a:t>
            </a:r>
          </a:p>
          <a:p>
            <a:pPr>
              <a:defRPr sz="1400" b="1">
                <a:solidFill>
                  <a:srgbClr val="29417A"/>
                </a:solidFill>
              </a:defRPr>
            </a:pPr>
            <a:r>
              <a:t>✔ 🌐 Privacy-Preserving local model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A 7B-parameter architecture runs entirely on local, cost-effective consumer GPUs.</a:t>
            </a:r>
          </a:p>
          <a:p>
            <a:pPr>
              <a:defRPr sz="1400" b="1">
                <a:solidFill>
                  <a:srgbClr val="29417A"/>
                </a:solidFill>
              </a:defRPr>
            </a:pPr>
            <a:r>
              <a:t>✔ 📚 Grounded Clinical Reasoning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Uses a curated medical database to feed relevant contexts to the model, eliminating typical LLM hallucinations.</a:t>
            </a:r>
          </a:p>
          <a:p>
            <a:pPr>
              <a:defRPr sz="1400" b="1">
                <a:solidFill>
                  <a:srgbClr val="29417A"/>
                </a:solidFill>
              </a:defRPr>
            </a:pPr>
            <a:r>
              <a:t>✔ 🤝 PEFT &amp; RAG Synergy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We build upon 'Benchmarking Retrieval-Augmented Generation for Medicine' (MedRAG) to prove PEFT-RAG synergy.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29417A"/>
                </a:solidFill>
                <a:latin typeface="Arial"/>
              </a:defRPr>
            </a:pPr>
            <a:r>
              <a:t>Proposed System Architecture</a:t>
            </a:r>
          </a:p>
          <a:p>
            <a:pPr>
              <a:defRPr sz="1400">
                <a:solidFill>
                  <a:srgbClr val="475569"/>
                </a:solidFill>
                <a:latin typeface="Arial"/>
              </a:defRPr>
            </a:pPr>
            <a:r>
              <a:t>Five-stage high-recall and high-precision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23790" y="1371600"/>
            <a:ext cx="2743200" cy="50292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94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User Query</a:t>
            </a:r>
          </a:p>
        </p:txBody>
      </p:sp>
      <p:sp>
        <p:nvSpPr>
          <p:cNvPr id="4" name="Left Arrow 3"/>
          <p:cNvSpPr/>
          <p:nvPr/>
        </p:nvSpPr>
        <p:spPr>
          <a:xfrm>
            <a:off x="3566160" y="1508760"/>
            <a:ext cx="914400" cy="228600"/>
          </a:xfrm>
          <a:prstGeom prst="lef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Arrow 4"/>
          <p:cNvSpPr/>
          <p:nvPr/>
        </p:nvSpPr>
        <p:spPr>
          <a:xfrm>
            <a:off x="7711135" y="1508760"/>
            <a:ext cx="914400" cy="22860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4572000" cy="731520"/>
          </a:xfrm>
          <a:prstGeom prst="roundRect">
            <a:avLst/>
          </a:prstGeom>
          <a:solidFill>
            <a:srgbClr val="E6F5F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BM25 Sparse Index</a:t>
            </a:r>
            <a:br/>
            <a:r>
              <a:t>(Lexical Precision | Top-20 Chunks)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88175" y="2103120"/>
            <a:ext cx="4572000" cy="731520"/>
          </a:xfrm>
          <a:prstGeom prst="roundRect">
            <a:avLst/>
          </a:prstGeom>
          <a:solidFill>
            <a:srgbClr val="E6F2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Dense Vector Search</a:t>
            </a:r>
            <a:br/>
            <a:r>
              <a:t>(Semantic Intent | Top-20 Chunks)</a:t>
            </a:r>
          </a:p>
        </p:txBody>
      </p:sp>
      <p:sp>
        <p:nvSpPr>
          <p:cNvPr id="8" name="Down Arrow 7"/>
          <p:cNvSpPr/>
          <p:nvPr/>
        </p:nvSpPr>
        <p:spPr>
          <a:xfrm>
            <a:off x="2743200" y="2926080"/>
            <a:ext cx="228600" cy="320040"/>
          </a:xfrm>
          <a:prstGeom prst="down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own Arrow 8"/>
          <p:cNvSpPr/>
          <p:nvPr/>
        </p:nvSpPr>
        <p:spPr>
          <a:xfrm>
            <a:off x="9144000" y="2926080"/>
            <a:ext cx="228600" cy="320040"/>
          </a:xfrm>
          <a:prstGeom prst="down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94990" y="3337560"/>
            <a:ext cx="6400800" cy="73152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Arial"/>
              </a:defRPr>
            </a:pPr>
            <a:r>
              <a:t>Reciprocal Rank Fusion (RRF)</a:t>
            </a:r>
            <a:br/>
            <a:r>
              <a:t>(w_BM25 = 0.4, w_dense = 0.6 | Top-40 Candidate Pool)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81090" y="4160520"/>
            <a:ext cx="228600" cy="320040"/>
          </a:xfrm>
          <a:prstGeom prst="downArrow">
            <a:avLst/>
          </a:prstGeom>
          <a:solidFill>
            <a:srgbClr val="94A3B8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894990" y="4572000"/>
            <a:ext cx="6400800" cy="73152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Arial"/>
              </a:defRPr>
            </a:pPr>
            <a:r>
              <a:t>Cross-Encoder Reranker</a:t>
            </a:r>
            <a:br/>
            <a:r>
              <a:t>(Joint Query-Context Self-Attention | Filters top-3 best passages)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81090" y="5394960"/>
            <a:ext cx="228600" cy="320040"/>
          </a:xfrm>
          <a:prstGeom prst="downArrow">
            <a:avLst/>
          </a:prstGeom>
          <a:solidFill>
            <a:srgbClr val="94A3B8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94990" y="5806440"/>
            <a:ext cx="6400800" cy="731520"/>
          </a:xfrm>
          <a:prstGeom prst="roundRect">
            <a:avLst/>
          </a:prstGeom>
          <a:solidFill>
            <a:srgbClr val="FDF2F8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Arial"/>
              </a:defRPr>
            </a:pPr>
            <a:r>
              <a:t>Qwen 2.5-7B-Instruct (Local Deployment)</a:t>
            </a:r>
            <a:br/>
            <a:r>
              <a:t>(Quantized 4-bit NF4 | QLoRA tuned with response-only loss)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29417A"/>
                </a:solidFill>
                <a:latin typeface="Arial"/>
              </a:defRPr>
            </a:pPr>
            <a:r>
              <a:t>Methodology: Parameter-Efficient Fine-Tuning</a:t>
            </a:r>
          </a:p>
          <a:p>
            <a:pPr>
              <a:defRPr sz="1400">
                <a:solidFill>
                  <a:srgbClr val="475569"/>
                </a:solidFill>
                <a:latin typeface="Arial"/>
              </a:defRPr>
            </a:pPr>
            <a:r>
              <a:t>Calibrating medical reasoning via QLoRA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latin typeface="Arial"/>
              </a:defRPr>
            </a:pPr>
            <a:r>
              <a:rPr b="1">
                <a:solidFill>
                  <a:srgbClr val="29417A"/>
                </a:solidFill>
              </a:rPr>
              <a:t>Base Model</a:t>
            </a:r>
            <a:r>
              <a:rPr b="0">
                <a:solidFill>
                  <a:srgbClr val="0F172A"/>
                </a:solidFill>
              </a:rPr>
              <a:t>: </a:t>
            </a:r>
            <a:r>
              <a:rPr b="1">
                <a:solidFill>
                  <a:srgbClr val="29417A"/>
                </a:solidFill>
              </a:rPr>
              <a:t>Qwen 2.5-7B-Instruct</a:t>
            </a:r>
            <a:r>
              <a:rPr b="0">
                <a:solidFill>
                  <a:srgbClr val="0F172A"/>
                </a:solidFill>
              </a:rPr>
              <a:t> is selected due to strong state-of-the-art base reasoning and instruction-following capacity.</a:t>
            </a:r>
          </a:p>
          <a:p>
            <a:pPr>
              <a:spcAft>
                <a:spcPts val="1200"/>
              </a:spcAft>
              <a:defRPr sz="1500">
                <a:latin typeface="Arial"/>
              </a:defRPr>
            </a:pPr>
            <a:r>
              <a:rPr b="1">
                <a:solidFill>
                  <a:srgbClr val="29417A"/>
                </a:solidFill>
              </a:rPr>
              <a:t>Aggressive Quantization</a:t>
            </a:r>
            <a:r>
              <a:rPr b="0">
                <a:solidFill>
                  <a:srgbClr val="0F172A"/>
                </a:solidFill>
              </a:rPr>
              <a:t>: Freezes model weights in </a:t>
            </a:r>
            <a:r>
              <a:rPr b="1">
                <a:solidFill>
                  <a:srgbClr val="29417A"/>
                </a:solidFill>
              </a:rPr>
              <a:t>4-bit NormalFloat (NF4)</a:t>
            </a:r>
            <a:r>
              <a:rPr b="0">
                <a:solidFill>
                  <a:srgbClr val="0F172A"/>
                </a:solidFill>
              </a:rPr>
              <a:t> with double quantization to minimize GPU VRAM footprint.</a:t>
            </a:r>
          </a:p>
          <a:p>
            <a:pPr>
              <a:spcAft>
                <a:spcPts val="1200"/>
              </a:spcAft>
              <a:defRPr sz="1500">
                <a:latin typeface="Arial"/>
              </a:defRPr>
            </a:pPr>
            <a:r>
              <a:rPr b="1">
                <a:solidFill>
                  <a:srgbClr val="29417A"/>
                </a:solidFill>
              </a:rPr>
              <a:t>LoRA Target Modules</a:t>
            </a:r>
            <a:r>
              <a:rPr b="0">
                <a:solidFill>
                  <a:srgbClr val="0F172A"/>
                </a:solidFill>
              </a:rPr>
              <a:t>: Injects trainable adapters into </a:t>
            </a:r>
            <a:r>
              <a:rPr b="1">
                <a:solidFill>
                  <a:srgbClr val="29417A"/>
                </a:solidFill>
              </a:rPr>
              <a:t>all</a:t>
            </a:r>
            <a:r>
              <a:rPr b="0">
                <a:solidFill>
                  <a:srgbClr val="0F172A"/>
                </a:solidFill>
              </a:rPr>
              <a:t> attention and feed-forward linear layers (`q, k, v, o, gate, up, down_proj`).</a:t>
            </a:r>
          </a:p>
          <a:p>
            <a:pPr>
              <a:spcAft>
                <a:spcPts val="1200"/>
              </a:spcAft>
              <a:defRPr sz="1500">
                <a:latin typeface="Arial"/>
              </a:defRPr>
            </a:pPr>
            <a:r>
              <a:rPr b="1">
                <a:solidFill>
                  <a:srgbClr val="29417A"/>
                </a:solidFill>
              </a:rPr>
              <a:t>Response-Only Loss</a:t>
            </a:r>
            <a:r>
              <a:rPr b="0">
                <a:solidFill>
                  <a:srgbClr val="0F172A"/>
                </a:solidFill>
              </a:rPr>
              <a:t>: Masks prompt tokens during backpropagation, training the model's parameters strictly on generating logical answers.</a:t>
            </a:r>
          </a:p>
          <a:p>
            <a:pPr>
              <a:spcAft>
                <a:spcPts val="1200"/>
              </a:spcAft>
              <a:defRPr sz="1500">
                <a:latin typeface="Arial"/>
              </a:defRPr>
            </a:pPr>
            <a:r>
              <a:rPr b="1">
                <a:solidFill>
                  <a:srgbClr val="29417A"/>
                </a:solidFill>
              </a:rPr>
              <a:t>Tuning Set</a:t>
            </a:r>
            <a:r>
              <a:rPr b="0">
                <a:solidFill>
                  <a:srgbClr val="0F172A"/>
                </a:solidFill>
              </a:rPr>
              <a:t>: Trained on the PubMedQA dataset artificial partition.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828800"/>
            <a:ext cx="48463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tlCol="0" anchor="ctr"/>
          <a:lstStyle/>
          <a:p>
            <a:pPr algn="ctr">
              <a:spcAft>
                <a:spcPts val="1800"/>
              </a:spcAft>
              <a:defRPr sz="1400" b="1">
                <a:solidFill>
                  <a:srgbClr val="29417A"/>
                </a:solidFill>
                <a:latin typeface="Arial"/>
              </a:defRPr>
            </a:pPr>
            <a:r>
              <a:t>QLoRA CONFIGURATION</a:t>
            </a:r>
          </a:p>
          <a:p>
            <a:pPr>
              <a:spcAft>
                <a:spcPts val="800"/>
              </a:spcAft>
              <a:defRPr sz="1250" b="1">
                <a:solidFill>
                  <a:srgbClr val="0F172A"/>
                </a:solidFill>
              </a:defRPr>
            </a:pPr>
            <a:r>
              <a:t>• Base Model: </a:t>
            </a:r>
            <a:r>
              <a:rPr b="0">
                <a:solidFill>
                  <a:srgbClr val="475569"/>
                </a:solidFill>
              </a:rPr>
              <a:t>Qwen 2.5-7B-Instruct</a:t>
            </a:r>
          </a:p>
          <a:p>
            <a:pPr>
              <a:spcAft>
                <a:spcPts val="800"/>
              </a:spcAft>
              <a:defRPr sz="1250" b="1">
                <a:solidFill>
                  <a:srgbClr val="0F172A"/>
                </a:solidFill>
              </a:defRPr>
            </a:pPr>
            <a:r>
              <a:t>• Quantization: </a:t>
            </a:r>
            <a:r>
              <a:rPr b="0">
                <a:solidFill>
                  <a:srgbClr val="475569"/>
                </a:solidFill>
              </a:rPr>
              <a:t>4-bit NF4, Double Quantization</a:t>
            </a:r>
          </a:p>
          <a:p>
            <a:pPr>
              <a:spcAft>
                <a:spcPts val="800"/>
              </a:spcAft>
              <a:defRPr sz="1250" b="1">
                <a:solidFill>
                  <a:srgbClr val="0F172A"/>
                </a:solidFill>
              </a:defRPr>
            </a:pPr>
            <a:r>
              <a:t>• LoRA Rank (r) / Alpha: </a:t>
            </a:r>
            <a:r>
              <a:rPr b="0">
                <a:solidFill>
                  <a:srgbClr val="475569"/>
                </a:solidFill>
              </a:rPr>
              <a:t>r = 32, alpha = 64</a:t>
            </a:r>
          </a:p>
          <a:p>
            <a:pPr>
              <a:spcAft>
                <a:spcPts val="800"/>
              </a:spcAft>
              <a:defRPr sz="1250" b="1">
                <a:solidFill>
                  <a:srgbClr val="0F172A"/>
                </a:solidFill>
              </a:defRPr>
            </a:pPr>
            <a:r>
              <a:t>• Target Modules: </a:t>
            </a:r>
            <a:r>
              <a:rPr b="0">
                <a:solidFill>
                  <a:srgbClr val="475569"/>
                </a:solidFill>
              </a:rPr>
              <a:t>q, k, v, o, gate, up, down_proj</a:t>
            </a:r>
          </a:p>
          <a:p>
            <a:pPr>
              <a:spcAft>
                <a:spcPts val="800"/>
              </a:spcAft>
              <a:defRPr sz="1250" b="1">
                <a:solidFill>
                  <a:srgbClr val="0F172A"/>
                </a:solidFill>
              </a:defRPr>
            </a:pPr>
            <a:r>
              <a:t>• Learning Rate / Scheduler: </a:t>
            </a:r>
            <a:r>
              <a:rPr b="0">
                <a:solidFill>
                  <a:srgbClr val="475569"/>
                </a:solidFill>
              </a:rPr>
              <a:t>2e-5 / Cosine</a:t>
            </a:r>
          </a:p>
          <a:p>
            <a:pPr>
              <a:spcAft>
                <a:spcPts val="800"/>
              </a:spcAft>
              <a:defRPr sz="1250" b="1">
                <a:solidFill>
                  <a:srgbClr val="0F172A"/>
                </a:solidFill>
              </a:defRPr>
            </a:pPr>
            <a:r>
              <a:t>• Dataset &amp; Loss: </a:t>
            </a:r>
            <a:r>
              <a:rPr b="0">
                <a:solidFill>
                  <a:srgbClr val="475569"/>
                </a:solidFill>
              </a:rPr>
              <a:t>PubMedQA / Response-only loss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29417A"/>
                </a:solidFill>
                <a:latin typeface="Arial"/>
              </a:defRPr>
            </a:pPr>
            <a:r>
              <a:t>Methodology: Hybrid Retrieval &amp; Reranking</a:t>
            </a:r>
          </a:p>
          <a:p>
            <a:pPr>
              <a:defRPr sz="1400">
                <a:solidFill>
                  <a:srgbClr val="475569"/>
                </a:solidFill>
                <a:latin typeface="Arial"/>
              </a:defRPr>
            </a:pPr>
            <a:r>
              <a:t>Balancing recall and precision across 2.3 million+ medical document chunks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latin typeface="Arial"/>
              </a:defRPr>
            </a:pPr>
            <a:r>
              <a:rPr b="1">
                <a:solidFill>
                  <a:srgbClr val="29417A"/>
                </a:solidFill>
              </a:rPr>
              <a:t>Knowledge Corpus</a:t>
            </a:r>
            <a:r>
              <a:rPr b="0">
                <a:solidFill>
                  <a:srgbClr val="0F172A"/>
                </a:solidFill>
              </a:rPr>
              <a:t>: Over 2.3 million chunks systematically aggregated from clinical textbooks and PubMed articles.</a:t>
            </a:r>
          </a:p>
          <a:p>
            <a:pPr>
              <a:spcAft>
                <a:spcPts val="1400"/>
              </a:spcAft>
              <a:defRPr sz="1500">
                <a:latin typeface="Arial"/>
              </a:defRPr>
            </a:pPr>
            <a:r>
              <a:rPr b="1">
                <a:solidFill>
                  <a:srgbClr val="29417A"/>
                </a:solidFill>
              </a:rPr>
              <a:t>Lexical Search (BM25)</a:t>
            </a:r>
            <a:r>
              <a:rPr b="0">
                <a:solidFill>
                  <a:srgbClr val="0F172A"/>
                </a:solidFill>
              </a:rPr>
              <a:t>: Guarantees exact matches for complex drug names, anatomical terms, or medical classifications.</a:t>
            </a:r>
          </a:p>
          <a:p>
            <a:pPr>
              <a:spcAft>
                <a:spcPts val="1400"/>
              </a:spcAft>
              <a:defRPr sz="1500">
                <a:latin typeface="Arial"/>
              </a:defRPr>
            </a:pPr>
            <a:r>
              <a:rPr b="1">
                <a:solidFill>
                  <a:srgbClr val="29417A"/>
                </a:solidFill>
              </a:rPr>
              <a:t>Dense Semantic Search</a:t>
            </a:r>
            <a:r>
              <a:rPr b="0">
                <a:solidFill>
                  <a:srgbClr val="0F172A"/>
                </a:solidFill>
              </a:rPr>
              <a:t>: Maps query and passages into shared embedding space to search concepts without keyword overlaps.</a:t>
            </a:r>
          </a:p>
          <a:p>
            <a:pPr>
              <a:spcAft>
                <a:spcPts val="1400"/>
              </a:spcAft>
              <a:defRPr sz="1500">
                <a:latin typeface="Arial"/>
              </a:defRPr>
            </a:pPr>
            <a:r>
              <a:rPr b="1">
                <a:solidFill>
                  <a:srgbClr val="29417A"/>
                </a:solidFill>
              </a:rPr>
              <a:t>Reciprocal Rank Fusion (RRF)</a:t>
            </a:r>
            <a:r>
              <a:rPr b="0">
                <a:solidFill>
                  <a:srgbClr val="0F172A"/>
                </a:solidFill>
              </a:rPr>
              <a:t>: Merges sparse/dense ranking lists by reciprocal scores to privilege documents identified by both methods.</a:t>
            </a:r>
          </a:p>
          <a:p>
            <a:pPr>
              <a:spcAft>
                <a:spcPts val="1400"/>
              </a:spcAft>
              <a:defRPr sz="1500">
                <a:latin typeface="Arial"/>
              </a:defRPr>
            </a:pPr>
            <a:r>
              <a:rPr b="1">
                <a:solidFill>
                  <a:srgbClr val="29417A"/>
                </a:solidFill>
              </a:rPr>
              <a:t>Cross-Encoder Reranker</a:t>
            </a:r>
            <a:r>
              <a:rPr b="0">
                <a:solidFill>
                  <a:srgbClr val="0F172A"/>
                </a:solidFill>
              </a:rPr>
              <a:t>: Performs joint self-attention on query-context pairs to select the top-3 best contexts, discarding distractors.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828800"/>
            <a:ext cx="48463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2400"/>
              </a:spcAft>
              <a:defRPr sz="1400" b="1">
                <a:solidFill>
                  <a:srgbClr val="29417A"/>
                </a:solidFill>
                <a:latin typeface="Arial"/>
              </a:defRPr>
            </a:pPr>
            <a:r>
              <a:t>RETRIEVAL PARADIGM</a:t>
            </a:r>
          </a:p>
          <a:p>
            <a:pPr>
              <a:defRPr sz="1400" b="1">
                <a:solidFill>
                  <a:srgbClr val="29417A"/>
                </a:solidFill>
              </a:defRPr>
            </a:pPr>
            <a:r>
              <a:t>🔎 Lexical Precision (BM25)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Protects detailed scientific nomenclature which dense embeddings can obscure.</a:t>
            </a:r>
          </a:p>
          <a:p>
            <a:pPr>
              <a:defRPr sz="1400" b="1">
                <a:solidFill>
                  <a:srgbClr val="29417A"/>
                </a:solidFill>
              </a:defRPr>
            </a:pPr>
            <a:r>
              <a:t>🌐 Semantic Coverage (Dense)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Finds relevant papers even when doctors and researchers use different vocabulary.</a:t>
            </a:r>
          </a:p>
          <a:p>
            <a:pPr>
              <a:defRPr sz="1400" b="1">
                <a:solidFill>
                  <a:srgbClr val="29417A"/>
                </a:solidFill>
              </a:defRPr>
            </a:pPr>
            <a:r>
              <a:t>🛡 Rerank Cognitive Filter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Bi-encoders process texts independently. Our cross-encoder checks query-document interactions jointly, resolving contradictions.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29417A"/>
                </a:solidFill>
                <a:latin typeface="Arial"/>
              </a:defRPr>
            </a:pPr>
            <a:r>
              <a:t>Experimental Results &amp; Benchmark Comparison</a:t>
            </a:r>
          </a:p>
          <a:p>
            <a:pPr>
              <a:defRPr sz="1400">
                <a:solidFill>
                  <a:srgbClr val="475569"/>
                </a:solidFill>
                <a:latin typeface="Arial"/>
              </a:defRPr>
            </a:pPr>
            <a:r>
              <a:t>Validating performance against 70B models and GPT-3.5 RAG baselines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181781"/>
              </p:ext>
            </p:extLst>
          </p:nvPr>
        </p:nvGraphicFramePr>
        <p:xfrm>
          <a:off x="731520" y="1645920"/>
          <a:ext cx="10728654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2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400"/>
                        <a:t>Model Setup</a:t>
                      </a:r>
                    </a:p>
                  </a:txBody>
                  <a:tcPr>
                    <a:solidFill>
                      <a:srgbClr val="2941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Model Size</a:t>
                      </a:r>
                    </a:p>
                  </a:txBody>
                  <a:tcPr>
                    <a:solidFill>
                      <a:srgbClr val="2941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MedQA Accuracy (%)</a:t>
                      </a:r>
                    </a:p>
                  </a:txBody>
                  <a:tcPr>
                    <a:solidFill>
                      <a:srgbClr val="2941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PubMedQA Accuracy (%)</a:t>
                      </a:r>
                    </a:p>
                  </a:txBody>
                  <a:tcPr>
                    <a:solidFill>
                      <a:srgbClr val="2941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400"/>
                        <a:t>GPT-4 (Zero-shot) 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Cloud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86.10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75.20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400"/>
                        <a:t>LLaMA-2 (Zero-shot) 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70B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62.45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48.40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400"/>
                        <a:t>MEDITRON (Zero-shot) 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70B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51.69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53.40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400"/>
                        <a:t>GPT-3.5 + MedRAG 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Cloud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66.80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65.50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400"/>
                        <a:t>Cure-Med-14B (Zero-shot)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14B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70.14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71.20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400"/>
                        <a:t>Cure-Med-32B (Zero-shot)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32B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78.40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76.90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400"/>
                        <a:t>Qwen 2.5-Instruct (Zero-shot)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7B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52.40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46.50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400"/>
                        <a:t>Ours (QLoRA + Hybrid RAG)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7B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69.44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68.20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943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rPr sz="1200"/>
              <a:t>† Baselines cited from literature. Unmarked rows denote local experimental runs.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41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Discussion &amp; Key Takeaways</a:t>
            </a:r>
          </a:p>
          <a:p>
            <a:pPr>
              <a:spcBef>
                <a:spcPts val="800"/>
              </a:spcBef>
              <a:defRPr sz="1800">
                <a:solidFill>
                  <a:srgbClr val="C8DCFF"/>
                </a:solidFill>
                <a:latin typeface="Arial"/>
              </a:defRPr>
            </a:pPr>
            <a:r>
              <a:t>Summary of contributions &amp; 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96DCFF"/>
                </a:solidFill>
              </a:defRPr>
            </a:pPr>
            <a:r>
              <a:t>📌 KEY TAKEAWAYS</a:t>
            </a:r>
          </a:p>
          <a:p>
            <a:pPr>
              <a:spcAft>
                <a:spcPts val="10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**PEFT-RAG Synergy**: Fine-tuning structures model reasoning (how), while RAG provides factual groundings (what).</a:t>
            </a:r>
          </a:p>
          <a:p>
            <a:pPr>
              <a:spcAft>
                <a:spcPts val="10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**Cost &amp; Privacy**: Brings 70B-class medical capabilities to local consumer-grade GPUs.</a:t>
            </a:r>
          </a:p>
          <a:p>
            <a:pPr>
              <a:spcAft>
                <a:spcPts val="10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**Ablation Insight**: BM25 lexical precision is critical due to complex medical nomenclature.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5603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4FF64"/>
                </a:solidFill>
              </a:defRPr>
            </a:pPr>
            <a:r>
              <a:t>🚀 FUTURE DIRECTIONS</a:t>
            </a:r>
          </a:p>
          <a:p>
            <a:pPr>
              <a:spcAft>
                <a:spcPts val="10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**Multi-Hop Retrieval**: Iteratively query clinical literature to assemble complex, scattered diagnostic steps.</a:t>
            </a:r>
          </a:p>
          <a:p>
            <a:pPr>
              <a:spcAft>
                <a:spcPts val="10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**Inference Latency Optimization**: Optimize Cross-Encoder computation speeds via Speculative Decoding.</a:t>
            </a:r>
          </a:p>
          <a:p>
            <a:pPr>
              <a:spcAft>
                <a:spcPts val="10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**Continuous Domain Adaptation**: Conduct further token pre-training on medical databases to boost base capacities.</a:t>
            </a:r>
          </a:p>
          <a:p>
            <a:pPr algn="ctr">
              <a:spcBef>
                <a:spcPts val="1400"/>
              </a:spcBef>
              <a:defRPr sz="1800" b="1">
                <a:solidFill>
                  <a:srgbClr val="64FF64"/>
                </a:solidFill>
                <a:latin typeface="Arial"/>
              </a:defRPr>
            </a:pPr>
            <a:r>
              <a:t>Thank you! Open to Q&amp;A.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C8DCFF"/>
                </a:solidFill>
                <a:latin typeface="Arial"/>
              </a:defRPr>
            </a:pPr>
            <a:r>
              <a:t>Key Reference: Xiong et al., 'Benchmarking Retrieval-Augmented Generation for Medicine' (MedRAG, EMNLP 2024)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916</Words>
  <Application>Microsoft Office PowerPoint</Application>
  <PresentationFormat>Widescreen</PresentationFormat>
  <Paragraphs>101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ANH ĐỨC LÊ</cp:lastModifiedBy>
  <cp:revision>2</cp:revision>
  <dcterms:created xsi:type="dcterms:W3CDTF">2013-01-27T09:14:16Z</dcterms:created>
  <dcterms:modified xsi:type="dcterms:W3CDTF">2026-06-24T14:58:15Z</dcterms:modified>
  <cp:category/>
</cp:coreProperties>
</file>